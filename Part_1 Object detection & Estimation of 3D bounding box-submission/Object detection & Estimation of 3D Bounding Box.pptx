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Montserrat Medium"/>
      <p:regular r:id="rId27"/>
      <p:bold r:id="rId28"/>
      <p:italic r:id="rId29"/>
      <p:boldItalic r:id="rId30"/>
    </p:embeddedFont>
    <p:embeddedFont>
      <p:font typeface="Average"/>
      <p:regular r:id="rId31"/>
    </p:embeddedFon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MontserratMedium-bold.fntdata"/><Relationship Id="rId27" Type="http://schemas.openxmlformats.org/officeDocument/2006/relationships/font" Target="fonts/Montserrat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verage-regular.fntdata"/><Relationship Id="rId30" Type="http://schemas.openxmlformats.org/officeDocument/2006/relationships/font" Target="fonts/Montserrat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bold.fntdata"/><Relationship Id="rId10" Type="http://schemas.openxmlformats.org/officeDocument/2006/relationships/slide" Target="slides/slide5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54d3ac9d3f83a499_1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h54d3ac9d3f83a499_1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f87997393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f87997393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f87997393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f87997393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f87997393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f87997393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h54d3ac9d3f83a499_1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h54d3ac9d3f83a499_1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54d3ac9d3f83a499_1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h54d3ac9d3f83a499_1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h54d3ac9d3f83a499_1_1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h54d3ac9d3f83a499_1_1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54d3ac9d3f83a499_1_1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h54d3ac9d3f83a499_1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54d3ac9d3f83a499_1_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h54d3ac9d3f83a499_1_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54d3ac9d3f83a499_1_1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h54d3ac9d3f83a499_1_1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h54d3ac9d3f83a499_1_1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h54d3ac9d3f83a499_1_1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h54d3ac9d3f83a499_1_1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h54d3ac9d3f83a499_1_1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h54d3ac9d3f83a499_1_1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h54d3ac9d3f83a499_1_1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406605.jpg" id="10" name="Google Shape;10;p2"/>
          <p:cNvPicPr preferRelativeResize="0"/>
          <p:nvPr/>
        </p:nvPicPr>
        <p:blipFill rotWithShape="1">
          <a:blip r:embed="rId2">
            <a:alphaModFix amt="66000"/>
          </a:blip>
          <a:srcRect b="39566" l="20992" r="40113" t="2691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offset_comp_342327_edtied.jpg" id="11" name="Google Shape;11;p2"/>
          <p:cNvPicPr preferRelativeResize="0"/>
          <p:nvPr/>
        </p:nvPicPr>
        <p:blipFill rotWithShape="1">
          <a:blip r:embed="rId3">
            <a:alphaModFix amt="31000"/>
          </a:blip>
          <a:srcRect b="11298" l="14010" r="43290" t="35834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3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6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6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7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2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12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1" name="Google Shape;171;p12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8" name="Google Shape;17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13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4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5" name="Google Shape;20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14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213" name="Google Shape;213;p16"/>
          <p:cNvPicPr preferRelativeResize="0"/>
          <p:nvPr/>
        </p:nvPicPr>
        <p:blipFill rotWithShape="1">
          <a:blip r:embed="rId2">
            <a:alphaModFix amt="80000"/>
          </a:blip>
          <a:srcRect b="25870" l="30475" r="30475" t="11956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16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7" name="Google Shape;217;p16">
            <a:hlinkClick action="ppaction://hlinksldjump" r:id="rId3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>
            <a:hlinkClick action="ppaction://hlinksldjump" r:id="rId4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>
            <a:hlinkClick action="ppaction://hlinksldjump" r:id="rId5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>
            <a:hlinkClick action="ppaction://hlinksldjump" r:id="rId6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h54d3ac9d3f83a499_9_0)">
  <p:cSld name="Title slide (h54d3ac9d3f83a499_9_0)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26" name="Google Shape;226;p17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27" name="Google Shape;22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4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33" name="Google Shape;233;p18"/>
            <p:cNvSpPr/>
            <p:nvPr/>
          </p:nvSpPr>
          <p:spPr>
            <a:xfrm flipH="1">
              <a:off x="7810500" y="0"/>
              <a:ext cx="1333500" cy="1333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145A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 flipH="1">
              <a:off x="8286600" y="0"/>
              <a:ext cx="857400" cy="857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82C7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8"/>
            <p:cNvSpPr/>
            <p:nvPr/>
          </p:nvSpPr>
          <p:spPr>
            <a:xfrm flipH="1" rot="10800000">
              <a:off x="0" y="3429000"/>
              <a:ext cx="1714500" cy="1714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145AC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533400" y="1238250"/>
              <a:ext cx="38100" cy="2667000"/>
            </a:xfrm>
            <a:prstGeom prst="rect">
              <a:avLst/>
            </a:prstGeom>
            <a:solidFill>
              <a:srgbClr val="82C7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533400" y="1238250"/>
              <a:ext cx="38100" cy="1143000"/>
            </a:xfrm>
            <a:prstGeom prst="rect">
              <a:avLst/>
            </a:prstGeom>
            <a:solidFill>
              <a:srgbClr val="0145A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" name="Google Shape;238;p18"/>
          <p:cNvGrpSpPr/>
          <p:nvPr/>
        </p:nvGrpSpPr>
        <p:grpSpPr>
          <a:xfrm>
            <a:off x="5429250" y="857250"/>
            <a:ext cx="2952900" cy="3429000"/>
            <a:chOff x="0" y="0"/>
            <a:chExt cx="2952900" cy="3429000"/>
          </a:xfrm>
        </p:grpSpPr>
        <p:sp>
          <p:nvSpPr>
            <p:cNvPr id="239" name="Google Shape;239;p18"/>
            <p:cNvSpPr/>
            <p:nvPr/>
          </p:nvSpPr>
          <p:spPr>
            <a:xfrm>
              <a:off x="0" y="0"/>
              <a:ext cx="2952900" cy="3429000"/>
            </a:xfrm>
            <a:prstGeom prst="roundRect">
              <a:avLst>
                <a:gd fmla="val 5161" name="adj"/>
              </a:avLst>
            </a:prstGeom>
            <a:solidFill>
              <a:srgbClr val="242C3A"/>
            </a:solidFill>
            <a:ln cap="flat" cmpd="sng" w="19050">
              <a:solidFill>
                <a:srgbClr val="313C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8"/>
            <p:cNvSpPr/>
            <p:nvPr/>
          </p:nvSpPr>
          <p:spPr>
            <a:xfrm rot="10800000">
              <a:off x="2381250" y="2857500"/>
              <a:ext cx="571500" cy="571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82C7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8"/>
            <p:cNvSpPr/>
            <p:nvPr/>
          </p:nvSpPr>
          <p:spPr>
            <a:xfrm rot="10800000">
              <a:off x="2571750" y="304800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145A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A futuristic high-tech 3D LiDAR point cloud visualization of autonomous driving object detection. A vehicle driving on a road at night, with bright glowing green and blue 3D bounding boxes around surrounding cars, pedestrians, and obstacles, showing real-time digital perception system overlay." id="242" name="Google Shape;242;p18"/>
          <p:cNvPicPr preferRelativeResize="0"/>
          <p:nvPr/>
        </p:nvPicPr>
        <p:blipFill rotWithShape="1">
          <a:blip r:embed="rId3">
            <a:alphaModFix/>
          </a:blip>
          <a:srcRect b="0" l="0" r="-14811" t="0"/>
          <a:stretch/>
        </p:blipFill>
        <p:spPr>
          <a:xfrm>
            <a:off x="5619750" y="857250"/>
            <a:ext cx="2952900" cy="3429000"/>
          </a:xfrm>
          <a:prstGeom prst="roundRect">
            <a:avLst>
              <a:gd fmla="val 5161" name="adj"/>
            </a:avLst>
          </a:prstGeom>
          <a:noFill/>
          <a:ln>
            <a:noFill/>
          </a:ln>
        </p:spPr>
      </p:pic>
      <p:grpSp>
        <p:nvGrpSpPr>
          <p:cNvPr id="243" name="Google Shape;243;p18"/>
          <p:cNvGrpSpPr/>
          <p:nvPr/>
        </p:nvGrpSpPr>
        <p:grpSpPr>
          <a:xfrm>
            <a:off x="762000" y="857250"/>
            <a:ext cx="3660300" cy="266700"/>
            <a:chOff x="0" y="0"/>
            <a:chExt cx="3660300" cy="266700"/>
          </a:xfrm>
        </p:grpSpPr>
        <p:sp>
          <p:nvSpPr>
            <p:cNvPr id="244" name="Google Shape;244;p18"/>
            <p:cNvSpPr/>
            <p:nvPr/>
          </p:nvSpPr>
          <p:spPr>
            <a:xfrm>
              <a:off x="0" y="0"/>
              <a:ext cx="3660300" cy="266700"/>
            </a:xfrm>
            <a:prstGeom prst="roundRect">
              <a:avLst>
                <a:gd fmla="val 50000" name="adj"/>
              </a:avLst>
            </a:prstGeom>
            <a:solidFill>
              <a:srgbClr val="0145AC">
                <a:alpha val="30000"/>
              </a:srgbClr>
            </a:solidFill>
            <a:ln cap="flat" cmpd="sng" w="9525">
              <a:solidFill>
                <a:srgbClr val="0145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8"/>
            <p:cNvSpPr txBox="1"/>
            <p:nvPr/>
          </p:nvSpPr>
          <p:spPr>
            <a:xfrm>
              <a:off x="233700" y="0"/>
              <a:ext cx="3192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14300" spcFirstLastPara="1" rIns="1143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82C7A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3D PERCEPTION &amp; LEARNING BASED DATA FUSION</a:t>
              </a:r>
              <a:endParaRPr b="1" sz="8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46" name="Google Shape;246;p18"/>
          <p:cNvSpPr txBox="1"/>
          <p:nvPr/>
        </p:nvSpPr>
        <p:spPr>
          <a:xfrm>
            <a:off x="762000" y="1257300"/>
            <a:ext cx="42864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-GB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Object Detection with LiDAR Point Clouds &amp; Estimation of 3D Bounding Boxes</a:t>
            </a:r>
            <a:endParaRPr b="1" sz="2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47" name="Google Shape;247;p18"/>
          <p:cNvGrpSpPr/>
          <p:nvPr/>
        </p:nvGrpSpPr>
        <p:grpSpPr>
          <a:xfrm>
            <a:off x="762000" y="3524250"/>
            <a:ext cx="4286400" cy="762000"/>
            <a:chOff x="0" y="0"/>
            <a:chExt cx="4286400" cy="762000"/>
          </a:xfrm>
        </p:grpSpPr>
        <p:sp>
          <p:nvSpPr>
            <p:cNvPr id="248" name="Google Shape;248;p18"/>
            <p:cNvSpPr/>
            <p:nvPr/>
          </p:nvSpPr>
          <p:spPr>
            <a:xfrm>
              <a:off x="0" y="0"/>
              <a:ext cx="4286400" cy="762000"/>
            </a:xfrm>
            <a:prstGeom prst="roundRect">
              <a:avLst>
                <a:gd fmla="val 15000" name="adj"/>
              </a:avLst>
            </a:prstGeom>
            <a:solidFill>
              <a:srgbClr val="222A37"/>
            </a:solidFill>
            <a:ln cap="flat" cmpd="sng" w="9525">
              <a:solidFill>
                <a:srgbClr val="2D37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8"/>
            <p:cNvSpPr txBox="1"/>
            <p:nvPr/>
          </p:nvSpPr>
          <p:spPr>
            <a:xfrm>
              <a:off x="0" y="0"/>
              <a:ext cx="4286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82C7A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PRESENTER</a:t>
              </a:r>
              <a:endParaRPr b="1" sz="8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500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Sri Hari Padmanaban</a:t>
              </a:r>
              <a:endParaRPr b="0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 txBox="1"/>
          <p:nvPr/>
        </p:nvSpPr>
        <p:spPr>
          <a:xfrm>
            <a:off x="1600151" y="1460250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1600151" y="1785751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Tools &amp; Input Dat</a:t>
            </a: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aset</a:t>
            </a:r>
            <a:endParaRPr>
              <a:solidFill>
                <a:srgbClr val="CACAC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1600150" y="2111250"/>
            <a:ext cx="41835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Processing Workflow &amp; Code Walkthrough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1600150" y="2436750"/>
            <a:ext cx="4680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LiDAR-to-Camera Coordinate Transformation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1600150" y="2762250"/>
            <a:ext cx="4014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Construction of 3D Bounding Box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1600148" y="3087750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Multi-Object Visualization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1600148" y="3413250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Learnings &amp; Challenges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1600148" y="3738750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References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2" name="Google Shape;262;p19"/>
          <p:cNvSpPr txBox="1"/>
          <p:nvPr>
            <p:ph type="title"/>
          </p:nvPr>
        </p:nvSpPr>
        <p:spPr>
          <a:xfrm>
            <a:off x="1449900" y="5461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/>
          <p:nvPr>
            <p:ph idx="1" type="body"/>
          </p:nvPr>
        </p:nvSpPr>
        <p:spPr>
          <a:xfrm>
            <a:off x="1052550" y="1589700"/>
            <a:ext cx="7038900" cy="13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/>
              <a:t>The objective is to connect raw LiDAR returns and detect the object in the environment and to estimate the 3D bounding boxes for the object. This project builds a Python pipeline for inspecting KITTI LiDAR point clouds and visualizing labeled objects as oriented 3D boxes. </a:t>
            </a:r>
            <a:endParaRPr sz="1500"/>
          </a:p>
        </p:txBody>
      </p:sp>
      <p:sp>
        <p:nvSpPr>
          <p:cNvPr id="268" name="Google Shape;268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Tools &amp; Input Dataset Used</a:t>
            </a:r>
            <a:endParaRPr/>
          </a:p>
        </p:txBody>
      </p:sp>
      <p:sp>
        <p:nvSpPr>
          <p:cNvPr id="274" name="Google Shape;274;p21"/>
          <p:cNvSpPr txBox="1"/>
          <p:nvPr>
            <p:ph idx="1" type="body"/>
          </p:nvPr>
        </p:nvSpPr>
        <p:spPr>
          <a:xfrm>
            <a:off x="1651350" y="1040800"/>
            <a:ext cx="5841300" cy="3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Tools:</a:t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AutoNum type="arabicPeriod"/>
            </a:pPr>
            <a:r>
              <a:rPr lang="en-GB">
                <a:solidFill>
                  <a:srgbClr val="FFFFFF"/>
                </a:solidFill>
              </a:rPr>
              <a:t>VS Code</a:t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AutoNum type="arabicPeriod"/>
            </a:pPr>
            <a:r>
              <a:rPr lang="en-GB">
                <a:solidFill>
                  <a:srgbClr val="FFFFFF"/>
                </a:solidFill>
              </a:rPr>
              <a:t>Python</a:t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AutoNum type="arabicPeriod"/>
            </a:pPr>
            <a:r>
              <a:rPr lang="en-GB">
                <a:solidFill>
                  <a:srgbClr val="FFFFFF"/>
                </a:solidFill>
              </a:rPr>
              <a:t>Open3D</a:t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AutoNum type="arabicPeriod"/>
            </a:pPr>
            <a:r>
              <a:rPr lang="en-GB">
                <a:solidFill>
                  <a:srgbClr val="FFFFFF"/>
                </a:solidFill>
              </a:rPr>
              <a:t>NumPy</a:t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AutoNum type="arabicPeriod"/>
            </a:pPr>
            <a:r>
              <a:rPr lang="en-GB">
                <a:solidFill>
                  <a:srgbClr val="FFFFFF"/>
                </a:solidFill>
              </a:rPr>
              <a:t>Matplotlib</a:t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AutoNum type="arabicPeriod"/>
            </a:pPr>
            <a:r>
              <a:rPr lang="en-GB">
                <a:solidFill>
                  <a:srgbClr val="FFFFFF"/>
                </a:solidFill>
              </a:rPr>
              <a:t>WSL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Dataset:</a:t>
            </a:r>
            <a:endParaRPr>
              <a:solidFill>
                <a:srgbClr val="FFFFFF"/>
              </a:solidFill>
            </a:endParaRPr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	The KITTI dataset provides real-world driving data collected using cameras and LiDAR sensors.For this project, I used its LiDAR point clouds, object labels, and calibration files to visualize objects and their 3D bounding boxes. 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Processing Workflow &amp; Code Walkthrough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1600150" y="1460250"/>
            <a:ext cx="6901500" cy="28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Choosing of KITTI frame and importing its LiDAR scan, labels and calibration file.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Reading of LiDAR scan as points containing x, y, z coordinates and its reflectance value.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Transforming of LiDAR coordinates into rectified camera coordinates.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Reading of object labels  including class, dimensions, location and orientation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Building of bounding box for each supported labelled object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Displaying of point clouds and boxes in 3D viewer using different colors different classes.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LiDAR to Camera Coordinate transformation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1600150" y="1460250"/>
            <a:ext cx="6901500" cy="23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LiDAR points and KITTI object labels use different coordinate systems.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LiDAR axes: </a:t>
            </a:r>
            <a:r>
              <a:rPr lang="en-GB">
                <a:solidFill>
                  <a:schemeClr val="lt1"/>
                </a:solidFill>
              </a:rPr>
              <a:t>x forward, y left, z up</a:t>
            </a:r>
            <a:r>
              <a:rPr lang="en-GB"/>
              <a:t>.</a:t>
            </a:r>
            <a:endParaRPr/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-GB">
                <a:solidFill>
                  <a:schemeClr val="lt1"/>
                </a:solidFill>
              </a:rPr>
              <a:t>Camera axes: x right, y down, z forward.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calibration file provides matrices that transform each LiDAR point into the camera coordinate system, then rectify it.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This puts the point cloud and labelled 3D boxes in the same coordinate system so they can be visualized together.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1600150" y="3746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Transformation: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1696350" y="4236350"/>
            <a:ext cx="558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LiDAR frame → Calibration matrices → Rectified camera frame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LiDAR to Camera Coordinate transformation</a:t>
            </a:r>
            <a:endParaRPr/>
          </a:p>
        </p:txBody>
      </p:sp>
      <p:pic>
        <p:nvPicPr>
          <p:cNvPr id="294" name="Google Shape;294;p24"/>
          <p:cNvPicPr preferRelativeResize="0"/>
          <p:nvPr/>
        </p:nvPicPr>
        <p:blipFill rotWithShape="1">
          <a:blip r:embed="rId3">
            <a:alphaModFix/>
          </a:blip>
          <a:srcRect b="2468" l="7529" r="6913" t="9387"/>
          <a:stretch/>
        </p:blipFill>
        <p:spPr>
          <a:xfrm>
            <a:off x="350825" y="1499475"/>
            <a:ext cx="2442551" cy="244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4"/>
          <p:cNvPicPr preferRelativeResize="0"/>
          <p:nvPr/>
        </p:nvPicPr>
        <p:blipFill rotWithShape="1">
          <a:blip r:embed="rId4">
            <a:alphaModFix/>
          </a:blip>
          <a:srcRect b="0" l="6178" r="7046" t="5651"/>
          <a:stretch/>
        </p:blipFill>
        <p:spPr>
          <a:xfrm>
            <a:off x="2953700" y="1499475"/>
            <a:ext cx="2606826" cy="244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4"/>
          <p:cNvPicPr preferRelativeResize="0"/>
          <p:nvPr/>
        </p:nvPicPr>
        <p:blipFill rotWithShape="1">
          <a:blip r:embed="rId5">
            <a:alphaModFix/>
          </a:blip>
          <a:srcRect b="0" l="5994" r="5994" t="8265"/>
          <a:stretch/>
        </p:blipFill>
        <p:spPr>
          <a:xfrm>
            <a:off x="5830050" y="1499475"/>
            <a:ext cx="2855092" cy="244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 of 3D Bounding Box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600150" y="1460250"/>
            <a:ext cx="6901500" cy="23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Each KITTI label provides the object’s height, width, length, location, and yaw angle.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The location gives the box’s bottom center in camera coordinates.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The code creates four footprint corners using the object’s width and length.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It rotates the corners by the yaw angle and places them at the labelled location.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It creates the top corners using the object’s height. Since camera y points downward, the top is at </a:t>
            </a:r>
            <a:r>
              <a:rPr lang="en-GB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bottom_y − height</a:t>
            </a:r>
            <a:r>
              <a:rPr lang="en-GB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The code connects the eight corners to form the 3D box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 of 3D Bounding Box</a:t>
            </a:r>
            <a:endParaRPr/>
          </a:p>
        </p:txBody>
      </p:sp>
      <p:pic>
        <p:nvPicPr>
          <p:cNvPr id="308" name="Google Shape;30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525" y="1479525"/>
            <a:ext cx="3517649" cy="277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6"/>
          <p:cNvPicPr preferRelativeResize="0"/>
          <p:nvPr/>
        </p:nvPicPr>
        <p:blipFill rotWithShape="1">
          <a:blip r:embed="rId4">
            <a:alphaModFix/>
          </a:blip>
          <a:srcRect b="0" l="25893" r="35638" t="0"/>
          <a:stretch/>
        </p:blipFill>
        <p:spPr>
          <a:xfrm>
            <a:off x="5158275" y="1484950"/>
            <a:ext cx="3517651" cy="276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 Object Visualization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1600150" y="1460250"/>
            <a:ext cx="6901500" cy="23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The 3D viewer displays multiple labelled objects in the same LiDAR frame.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Each supported class—</a:t>
            </a:r>
            <a:r>
              <a:rPr b="1" lang="en-GB">
                <a:solidFill>
                  <a:schemeClr val="lt1"/>
                </a:solidFill>
              </a:rPr>
              <a:t>Car, Truck, Pedestrian, Cyclist, and Van</a:t>
            </a:r>
            <a:r>
              <a:rPr lang="en-GB">
                <a:solidFill>
                  <a:schemeClr val="lt1"/>
                </a:solidFill>
              </a:rPr>
              <a:t>—has its own box color.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LiDAR points inside each box are highlighted; the rest of the cloud provides scene context.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The viewer lets us rotate and zoom to inspect the boxes from different angles.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 Object Visualization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28"/>
          <p:cNvPicPr preferRelativeResize="0"/>
          <p:nvPr/>
        </p:nvPicPr>
        <p:blipFill rotWithShape="1">
          <a:blip r:embed="rId3">
            <a:alphaModFix/>
          </a:blip>
          <a:srcRect b="0" l="0" r="38431" t="0"/>
          <a:stretch/>
        </p:blipFill>
        <p:spPr>
          <a:xfrm>
            <a:off x="163975" y="1500775"/>
            <a:ext cx="3414999" cy="311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8"/>
          <p:cNvPicPr preferRelativeResize="0"/>
          <p:nvPr/>
        </p:nvPicPr>
        <p:blipFill rotWithShape="1">
          <a:blip r:embed="rId4">
            <a:alphaModFix/>
          </a:blip>
          <a:srcRect b="0" l="0" r="23024" t="0"/>
          <a:stretch/>
        </p:blipFill>
        <p:spPr>
          <a:xfrm>
            <a:off x="3699900" y="2046037"/>
            <a:ext cx="5158374" cy="20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Learnings and Challenges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9"/>
          <p:cNvSpPr txBox="1"/>
          <p:nvPr/>
        </p:nvSpPr>
        <p:spPr>
          <a:xfrm>
            <a:off x="1600150" y="1460250"/>
            <a:ext cx="6901500" cy="17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Learnings: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How to read KITTI LiDAR scans, labels, and calibration files.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How to transform points between LiDAR and camera coordinates.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How object dimensions, location, and yaw are used to construct 3D boxes.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How to use Open3D to inspect point clouds and labelled objects.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1600150" y="3152850"/>
            <a:ext cx="6901500" cy="17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Challenges: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 sz="1500">
                <a:solidFill>
                  <a:schemeClr val="lt1"/>
                </a:solidFill>
              </a:rPr>
              <a:t>Points and boxes did not line up</a:t>
            </a:r>
            <a:endParaRPr sz="15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Boxes were difficult to orient correctly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>
                <a:solidFill>
                  <a:schemeClr val="lt1"/>
                </a:solidFill>
              </a:rPr>
              <a:t>Managing of different python extensions.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 &amp; References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0"/>
          <p:cNvSpPr txBox="1"/>
          <p:nvPr/>
        </p:nvSpPr>
        <p:spPr>
          <a:xfrm>
            <a:off x="1548100" y="1226775"/>
            <a:ext cx="69351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</a:rPr>
              <a:t>This project used KITTI LiDAR scans and calibration data to transform point clouds into camera coordinates and visualize labelled objects with 3D bounding boxes. Through the project, I learned how coordinate transformations and object dimensions, positions, and orientations are used to construct and display these boxes. As a next step, I would like to use a trained model to detect objects and predict their 3D bounding boxes.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1548100" y="3060150"/>
            <a:ext cx="6773100" cy="19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References: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 sz="1300">
                <a:solidFill>
                  <a:schemeClr val="lt1"/>
                </a:solidFill>
              </a:rPr>
              <a:t>Mousavian, A. et al. “3D Bounding Box Estimation Using Deep Learning and Geometry.” CVPR, 2017.</a:t>
            </a:r>
            <a:endParaRPr sz="13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 sz="1300">
                <a:solidFill>
                  <a:schemeClr val="lt1"/>
                </a:solidFill>
              </a:rPr>
              <a:t>Geiger, A., Lenz, P. &amp; Urtasun, R. “Are We Ready for Autonomous Driving? The KITTI Vision Benchmark Suite.” CVPR, 2012.</a:t>
            </a:r>
            <a:endParaRPr sz="13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GB" sz="1300">
                <a:solidFill>
                  <a:schemeClr val="lt1"/>
                </a:solidFill>
              </a:rPr>
              <a:t>Lang, A. H. et al. “PointPillars: Fast Encoders for Object Detection From Point Clouds.” CVPR, 2019.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